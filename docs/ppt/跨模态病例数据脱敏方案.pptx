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31440"/>
            <a:ext cx="7772400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医疗数据安全 · 技术方案汇报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728216"/>
            <a:ext cx="7772400" cy="12266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30"/>
              </a:lnSpc>
              <a:spcAft>
                <a:spcPts val="1000"/>
              </a:spcAft>
              <a:buNone/>
            </a:pPr>
            <a:r>
              <a:rPr lang="en-US" sz="42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跨模态病例数据</a:t>
            </a:r>
            <a:endParaRPr lang="en-US" sz="4200" dirty="0"/>
          </a:p>
          <a:p>
            <a:pPr marL="0" indent="0" algn="l">
              <a:lnSpc>
                <a:spcPts val="4830"/>
              </a:lnSpc>
              <a:spcAft>
                <a:spcPts val="1000"/>
              </a:spcAft>
              <a:buNone/>
            </a:pPr>
            <a:r>
              <a:rPr lang="en-US" sz="42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脱敏方案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62000" y="2081808"/>
            <a:ext cx="777240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400"/>
              </a:spcAft>
              <a:buNone/>
            </a:pPr>
            <a:r>
              <a:rPr lang="en-US" sz="17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多中心肺结节研究系统 · 可链接脱敏设计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2000" y="2799308"/>
            <a:ext cx="1174552" cy="387251"/>
          </a:xfrm>
          <a:prstGeom prst="roundRect">
            <a:avLst>
              <a:gd name="adj" fmla="val 65591"/>
            </a:avLst>
          </a:prstGeom>
          <a:solidFill>
            <a:srgbClr val="2D3B52"/>
          </a:solidFill>
          <a:ln w="9525">
            <a:solidFill>
              <a:srgbClr val="2C7A7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0125" y="2897684"/>
            <a:ext cx="71226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确定性映射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63502" y="2799308"/>
            <a:ext cx="1174552" cy="387251"/>
          </a:xfrm>
          <a:prstGeom prst="roundRect">
            <a:avLst>
              <a:gd name="adj" fmla="val 65591"/>
            </a:avLst>
          </a:prstGeom>
          <a:solidFill>
            <a:srgbClr val="2D3B52"/>
          </a:solidFill>
          <a:ln w="9525">
            <a:solidFill>
              <a:srgbClr val="2C7A7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301627" y="2897684"/>
            <a:ext cx="71226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跨模态关联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65004" y="2799308"/>
            <a:ext cx="1034802" cy="387251"/>
          </a:xfrm>
          <a:prstGeom prst="roundRect">
            <a:avLst>
              <a:gd name="adj" fmla="val 65591"/>
            </a:avLst>
          </a:prstGeom>
          <a:solidFill>
            <a:srgbClr val="2D3B52"/>
          </a:solidFill>
          <a:ln w="9525">
            <a:solidFill>
              <a:srgbClr val="2C7A7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03129" y="2897684"/>
            <a:ext cx="569723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无映射表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000" y="3694509"/>
            <a:ext cx="584150" cy="584150"/>
          </a:xfrm>
          <a:prstGeom prst="roundRect">
            <a:avLst>
              <a:gd name="adj" fmla="val 21741"/>
            </a:avLst>
          </a:prstGeom>
          <a:noFill/>
          <a:ln w="19050">
            <a:solidFill>
              <a:srgbClr val="2C7A7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2161" y="3800773"/>
            <a:ext cx="391352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73101" y="3810298"/>
            <a:ext cx="91340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脱敏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73101" y="4010323"/>
            <a:ext cx="91340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不可逆 / 抗重识别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9600" y="3694509"/>
            <a:ext cx="584150" cy="584150"/>
          </a:xfrm>
          <a:prstGeom prst="roundRect">
            <a:avLst>
              <a:gd name="adj" fmla="val 21741"/>
            </a:avLst>
          </a:prstGeom>
          <a:noFill/>
          <a:ln w="19050">
            <a:solidFill>
              <a:srgbClr val="2C7A7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49761" y="3800773"/>
            <a:ext cx="391352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60700" y="3810298"/>
            <a:ext cx="81610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60700" y="4010323"/>
            <a:ext cx="81610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同病人数据归位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2000" y="465966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0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v1.0 · 2026.07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88895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602" y="141387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602" y="319088"/>
            <a:ext cx="849802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今天讲什么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31602" y="725388"/>
            <a:ext cx="849802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议程总览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750" y="1168301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729" y="1279327"/>
            <a:ext cx="20174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1202" y="1168301"/>
            <a:ext cx="1269087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背景与核心诉求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1202" y="1406426"/>
            <a:ext cx="1269087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为什么需要这套方案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62500" y="1168301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9479" y="1279327"/>
            <a:ext cx="20174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71951" y="1168301"/>
            <a:ext cx="1087832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数据现状盘点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71951" y="1406426"/>
            <a:ext cx="108783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两个关键发现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750" y="2459385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8729" y="2570411"/>
            <a:ext cx="20174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41202" y="2459385"/>
            <a:ext cx="2175513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方案设计：统一确定性映射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41202" y="2697510"/>
            <a:ext cx="217551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核心架构与公式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62500" y="2459385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9479" y="2570411"/>
            <a:ext cx="20174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71951" y="2459385"/>
            <a:ext cx="1148554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项核心决策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71951" y="2697510"/>
            <a:ext cx="114855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逐项深挖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750" y="3750618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729" y="3861643"/>
            <a:ext cx="20174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41202" y="3750618"/>
            <a:ext cx="1269087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被否方案与权衡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41202" y="3988743"/>
            <a:ext cx="1269087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为什么不这么做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62500" y="3750618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79479" y="3861643"/>
            <a:ext cx="20174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71951" y="3750618"/>
            <a:ext cx="1269087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风险与实施路径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71951" y="3988743"/>
            <a:ext cx="1269087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下一步行动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88895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602" y="141387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602" y="319088"/>
            <a:ext cx="849802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项目背景：多中心肺结节研究系统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31602" y="725388"/>
            <a:ext cx="849802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数据来源多、形态杂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750" y="1168301"/>
            <a:ext cx="3442246" cy="3064222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406426"/>
            <a:ext cx="3025316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数据来源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9875" y="1723876"/>
            <a:ext cx="3025316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多家中心医院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9875" y="2209651"/>
            <a:ext cx="2965996" cy="9407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70"/>
              </a:lnSpc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珠江医院</a:t>
            </a:r>
            <a:endParaRPr lang="en-US" sz="1300" dirty="0"/>
          </a:p>
          <a:p>
            <a:pPr marL="342900" indent="-342900" algn="l">
              <a:lnSpc>
                <a:spcPts val="2470"/>
              </a:lnSpc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新桥医院</a:t>
            </a:r>
            <a:endParaRPr lang="en-US" sz="1300" dirty="0"/>
          </a:p>
          <a:p>
            <a:pPr marL="342900" indent="-342900" algn="l">
              <a:lnSpc>
                <a:spcPts val="2470"/>
              </a:lnSpc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省人民医院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02596" y="1168301"/>
            <a:ext cx="4609654" cy="3064222"/>
          </a:xfrm>
          <a:prstGeom prst="roundRect">
            <a:avLst>
              <a:gd name="adj" fmla="val 4145"/>
            </a:avLst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31196" y="1602135"/>
            <a:ext cx="4235503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两类数据形态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31196" y="1970336"/>
            <a:ext cx="4152454" cy="837902"/>
          </a:xfrm>
          <a:prstGeom prst="roundRect">
            <a:avLst>
              <a:gd name="adj" fmla="val 12126"/>
            </a:avLst>
          </a:prstGeom>
          <a:solidFill>
            <a:srgbClr val="2D3B5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08897" y="2148036"/>
            <a:ext cx="3872993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结构化报告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08897" y="2468612"/>
            <a:ext cx="387299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CSV / Parquet：病人 · 手术 · 病理 · 基因 · 结节影像 · 随访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31196" y="2960638"/>
            <a:ext cx="4152454" cy="837902"/>
          </a:xfrm>
          <a:prstGeom prst="roundRect">
            <a:avLst>
              <a:gd name="adj" fmla="val 12126"/>
            </a:avLst>
          </a:prstGeom>
          <a:solidFill>
            <a:srgbClr val="2D3B5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08897" y="3138339"/>
            <a:ext cx="3872993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🩻 DICOM 影像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08897" y="3458914"/>
            <a:ext cx="387299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CT 片子，PACS 级浏览器浏览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750" y="4410224"/>
            <a:ext cx="8280499" cy="453926"/>
          </a:xfrm>
          <a:prstGeom prst="roundRect">
            <a:avLst>
              <a:gd name="adj" fmla="val 11191"/>
            </a:avLst>
          </a:prstGeom>
          <a:solidFill>
            <a:srgbClr val="2C7A7B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5563" y="4410224"/>
            <a:ext cx="0" cy="453926"/>
          </a:xfrm>
          <a:prstGeom prst="line">
            <a:avLst/>
          </a:prstGeom>
          <a:noFill/>
          <a:ln w="47625">
            <a:solidFill>
              <a:srgbClr val="2C7A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076" y="4537174"/>
            <a:ext cx="803502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目标：把这些 </a:t>
            </a:r>
            <a:r>
              <a:rPr lang="en-US" sz="12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原始病例数据</a:t>
            </a:r>
            <a:r>
              <a:rPr lang="en-US" sz="12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导入研究系统，供多模态分析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22388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用户原始诉求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922413"/>
            <a:ext cx="7772400" cy="507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8000" dirty="0">
                <a:solidFill>
                  <a:srgbClr val="2C7A7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"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62000" y="2430363"/>
            <a:ext cx="77724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进入本项目的病例数据需要先完成
</a:t>
            </a:r>
            <a:r>
              <a:rPr lang="en-US" sz="24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脱敏</a:t>
            </a:r>
            <a:r>
              <a:rPr lang="en-US" sz="24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，但脱敏的同时也要保证同一份病例的各种数据还会</a:t>
            </a:r>
            <a:r>
              <a:rPr lang="en-US" sz="24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归属正确的病人</a:t>
            </a:r>
            <a:r>
              <a:rPr lang="en-US" sz="24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88895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602" y="141387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602" y="319088"/>
            <a:ext cx="849802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本质：一个看似矛盾的双重约束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31602" y="725388"/>
            <a:ext cx="849802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脱敏与关联，互相拉扯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750" y="1168301"/>
            <a:ext cx="4038600" cy="1554956"/>
          </a:xfrm>
          <a:prstGeom prst="roundRect">
            <a:avLst>
              <a:gd name="adj" fmla="val 8167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3951" y="1390501"/>
            <a:ext cx="3666083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约束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951" y="1657201"/>
            <a:ext cx="3666083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不可逆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951" y="2053977"/>
            <a:ext cx="3666083" cy="2235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脱敏后，外人</a:t>
            </a: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无法还原</a:t>
            </a: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真实病人身份——这是合规底线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73501" y="1168301"/>
            <a:ext cx="4038749" cy="1554956"/>
          </a:xfrm>
          <a:prstGeom prst="roundRect">
            <a:avLst>
              <a:gd name="adj" fmla="val 8167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95701" y="1390501"/>
            <a:ext cx="366623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约束 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5701" y="1657201"/>
            <a:ext cx="3666235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可关联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5701" y="2053977"/>
            <a:ext cx="3666235" cy="447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系统内部，同一病人的报告+影像脱敏后仍</a:t>
            </a: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归到同一个人</a:t>
            </a: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——业务必需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750" y="2926407"/>
            <a:ext cx="8280499" cy="901303"/>
          </a:xfrm>
          <a:prstGeom prst="roundRect">
            <a:avLst>
              <a:gd name="adj" fmla="val 14091"/>
            </a:avLst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3257996"/>
            <a:ext cx="543916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矛盾点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302" y="3129558"/>
            <a:ext cx="3698418" cy="4950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同一个身份标识——</a:t>
            </a: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要抹掉它</a:t>
            </a:r>
            <a:r>
              <a:rPr lang="en-US" sz="13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</a:t>
            </a:r>
            <a:r>
              <a:rPr lang="en-US" sz="13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 不能抹掉它</a:t>
            </a:r>
            <a:r>
              <a:rPr lang="en-US" sz="13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。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既要切断身份线索，又要保留身份线索。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8945" y="4005411"/>
            <a:ext cx="844610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buNone/>
            </a:pPr>
            <a:r>
              <a:rPr lang="en-US" sz="12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解法见后续：统一确定性映射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88895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602" y="141387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602" y="319088"/>
            <a:ext cx="849802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数据现状盘点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31602" y="725388"/>
            <a:ext cx="849802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两个世界，靠什么串起来？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750" y="1892647"/>
            <a:ext cx="3726210" cy="1717179"/>
          </a:xfrm>
          <a:prstGeom prst="roundRect">
            <a:avLst>
              <a:gd name="adj" fmla="val 73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7376" y="2130772"/>
            <a:ext cx="3314959" cy="409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7376" y="2641848"/>
            <a:ext cx="3314959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结构化世界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376" y="2965698"/>
            <a:ext cx="3314959" cy="4060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靠 </a:t>
            </a:r>
            <a:r>
              <a:rPr lang="en-US" sz="10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patient_id</a:t>
            </a: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跨 6 张表关联</a:t>
            </a: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病人 · 手术 · 病理 · IHC · 基因 · 影像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10360" y="2422624"/>
            <a:ext cx="533593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⚡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338679" y="2927449"/>
            <a:ext cx="46634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关联缺失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5891" y="1892647"/>
            <a:ext cx="3726359" cy="1717179"/>
          </a:xfrm>
          <a:prstGeom prst="roundRect">
            <a:avLst>
              <a:gd name="adj" fmla="val 73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91515" y="2130772"/>
            <a:ext cx="3315111" cy="409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🩻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91515" y="2641848"/>
            <a:ext cx="331511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DICOM 世界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91515" y="2965698"/>
            <a:ext cx="3315111" cy="4060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靠 </a:t>
            </a:r>
            <a:r>
              <a:rPr lang="en-US" sz="10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UID</a:t>
            </a: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索引</a:t>
            </a: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StudyInstanceUID · SeriesUID · SOPInstanceUID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1750" y="4461123"/>
            <a:ext cx="8280499" cy="403027"/>
          </a:xfrm>
          <a:prstGeom prst="roundRect">
            <a:avLst>
              <a:gd name="adj" fmla="val 12605"/>
            </a:avLst>
          </a:prstGeom>
          <a:solidFill>
            <a:srgbClr val="D97706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5563" y="4461123"/>
            <a:ext cx="0" cy="403027"/>
          </a:xfrm>
          <a:prstGeom prst="line">
            <a:avLst/>
          </a:prstGeom>
          <a:noFill/>
          <a:ln w="47625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7076" y="4562624"/>
            <a:ext cx="803502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❓ 设计起点：同一病人的</a:t>
            </a:r>
            <a:r>
              <a:rPr lang="en-US" sz="12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报告和片子</a:t>
            </a:r>
            <a:r>
              <a:rPr lang="en-US" sz="12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，怎么保证脱敏后还对得上？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88895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602" y="141387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602" y="319088"/>
            <a:ext cx="849802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发现 ①：两边是同一批病人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31602" y="725388"/>
            <a:ext cx="849802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关键事实核实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750" y="1168301"/>
            <a:ext cx="3827413" cy="3124349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1380976"/>
            <a:ext cx="3470103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核对方法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426" y="1698427"/>
            <a:ext cx="3470103" cy="280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 2 份真实数据：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426" y="2105918"/>
            <a:ext cx="3402062" cy="5310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9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DICOM 目录清单（70 个病人）</a:t>
            </a:r>
            <a:endParaRPr lang="en-US" sz="1100" dirty="0"/>
          </a:p>
          <a:p>
            <a:pPr marL="342900" indent="-342900" algn="l">
              <a:lnSpc>
                <a:spcPts val="209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CT与病理数据.csv（20 万行）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426" y="2641699"/>
            <a:ext cx="340206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426" y="2900363"/>
            <a:ext cx="3470103" cy="431750"/>
          </a:xfrm>
          <a:prstGeom prst="rect">
            <a:avLst/>
          </a:prstGeom>
          <a:noFill/>
        </p:spPr>
        <p:txBody>
          <a:bodyPr wrap="square" lIns="0" tIns="12700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DICOM 目录命名格式：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62314" y="1168301"/>
            <a:ext cx="4249936" cy="3124349"/>
          </a:xfrm>
          <a:prstGeom prst="roundRect">
            <a:avLst>
              <a:gd name="adj" fmla="val 4065"/>
            </a:avLst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14670" y="1542604"/>
            <a:ext cx="1945073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70/70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133689" y="2355354"/>
            <a:ext cx="90718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1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命中率 100%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8521" y="2758529"/>
            <a:ext cx="2197373" cy="5280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DICOM 的 </a:t>
            </a:r>
            <a:r>
              <a:rPr lang="en-US" sz="13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PatientID</a:t>
            </a:r>
            <a:endParaRPr lang="en-US" sz="1300" dirty="0"/>
          </a:p>
          <a:p>
            <a:pPr marL="0" indent="0" algn="ctr">
              <a:lnSpc>
                <a:spcPts val="208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=== CSV 的 </a:t>
            </a:r>
            <a:endParaRPr lang="en-US" sz="1300" dirty="0"/>
          </a:p>
          <a:p>
            <a:pPr marL="0" indent="0" algn="ctr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PAT_LOCAL_ID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97376" y="3515171"/>
            <a:ext cx="2779812" cy="403027"/>
          </a:xfrm>
          <a:prstGeom prst="roundRect">
            <a:avLst>
              <a:gd name="adj" fmla="val 18907"/>
            </a:avLst>
          </a:prstGeom>
          <a:solidFill>
            <a:srgbClr val="16A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76791" y="3616672"/>
            <a:ext cx="242098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PAT_LOCAL_ID = 天然统一主键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1750" y="4445050"/>
            <a:ext cx="8280499" cy="419100"/>
          </a:xfrm>
          <a:prstGeom prst="roundRect">
            <a:avLst>
              <a:gd name="adj" fmla="val 9091"/>
            </a:avLst>
          </a:prstGeom>
          <a:solidFill>
            <a:srgbClr val="2C7A7B">
              <a:alpha val="7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0800" y="4445050"/>
            <a:ext cx="0" cy="419100"/>
          </a:xfrm>
          <a:prstGeom prst="line">
            <a:avLst/>
          </a:prstGeom>
          <a:noFill/>
          <a:ln w="38100">
            <a:solidFill>
              <a:srgbClr val="2C7A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551" y="4559350"/>
            <a:ext cx="804473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意义：</a:t>
            </a:r>
            <a:r>
              <a:rPr lang="en-US" sz="11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没有这个统一主键，"统一映射"在数学上就不可能。这是方案成立的根基。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88895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602" y="141387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602" y="319088"/>
            <a:ext cx="849802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发现 ②：ID 分三层，且跨中心撞号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31602" y="725388"/>
            <a:ext cx="849802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为什么"中心"必须进哈希输入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750" y="1168301"/>
            <a:ext cx="2624733" cy="945952"/>
          </a:xfrm>
          <a:prstGeom prst="roundRect">
            <a:avLst>
              <a:gd name="adj" fmla="val 10741"/>
            </a:avLst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1750" y="1192113"/>
            <a:ext cx="2624733" cy="0"/>
          </a:xfrm>
          <a:prstGeom prst="line">
            <a:avLst/>
          </a:prstGeom>
          <a:noFill/>
          <a:ln w="47625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854" y="1380976"/>
            <a:ext cx="234052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病人级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3854" y="1593652"/>
            <a:ext cx="23405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PAT_LOCAL_ID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3854" y="1796802"/>
            <a:ext cx="23405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一个人 · 统一主键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59634" y="1168301"/>
            <a:ext cx="2624733" cy="945952"/>
          </a:xfrm>
          <a:prstGeom prst="roundRect">
            <a:avLst>
              <a:gd name="adj" fmla="val 10741"/>
            </a:avLst>
          </a:prstGeom>
          <a:solidFill>
            <a:srgbClr val="2D3B5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01738" y="1333351"/>
            <a:ext cx="234052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住院级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01738" y="1546027"/>
            <a:ext cx="23405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SICK_ID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738" y="1749177"/>
            <a:ext cx="23405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一次住院（清空）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7517" y="1168301"/>
            <a:ext cx="2624733" cy="945952"/>
          </a:xfrm>
          <a:prstGeom prst="roundRect">
            <a:avLst>
              <a:gd name="adj" fmla="val 10741"/>
            </a:avLst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87517" y="1192113"/>
            <a:ext cx="2624733" cy="0"/>
          </a:xfrm>
          <a:prstGeom prst="line">
            <a:avLst/>
          </a:prstGeom>
          <a:noFill/>
          <a:ln w="47625">
            <a:solidFill>
              <a:srgbClr val="2C7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9621" y="1380976"/>
            <a:ext cx="234052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检查级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29621" y="1593652"/>
            <a:ext cx="23405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EXAM_NO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29621" y="1796802"/>
            <a:ext cx="23405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一次 CT · 天然桥梁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1750" y="2291953"/>
            <a:ext cx="8280499" cy="1171277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8501" y="2488704"/>
            <a:ext cx="804473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 撞号风险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6671" y="2790230"/>
            <a:ext cx="222667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珠江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6671" y="2980730"/>
            <a:ext cx="222667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33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1008201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065413" y="2880717"/>
            <a:ext cx="14224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≠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436934" y="2790230"/>
            <a:ext cx="2226823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省医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36934" y="2980730"/>
            <a:ext cx="2226823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33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1008201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895826" y="2875955"/>
            <a:ext cx="2672066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PAT_LOCAL_ID 是</a:t>
            </a:r>
            <a:r>
              <a:rPr lang="en-US" sz="9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本地号</a:t>
            </a:r>
            <a:r>
              <a:rPr lang="en-US" sz="90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，不同医院各自编号，同号是</a:t>
            </a:r>
            <a:r>
              <a:rPr lang="en-US" sz="9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两个不同的人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8945" y="3577530"/>
            <a:ext cx="844610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buNone/>
            </a:pPr>
            <a:r>
              <a:rPr lang="en-US" sz="12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结论：哈希输入 = </a:t>
            </a:r>
            <a:r>
              <a:rPr lang="en-US" sz="12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中心 + PAT_LOCAL_ID</a:t>
            </a:r>
            <a:r>
              <a:rPr lang="en-US" sz="12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，否则会错误合并两个病人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44610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方案总览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546050"/>
            <a:ext cx="8446109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26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统一确定性映射 · Linkable Anonymization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1750" y="1238101"/>
            <a:ext cx="8280499" cy="1449586"/>
          </a:xfrm>
          <a:prstGeom prst="roundRect">
            <a:avLst>
              <a:gd name="adj" fmla="val 8761"/>
            </a:avLst>
          </a:prstGeom>
          <a:solidFill>
            <a:srgbClr val="2D3B52"/>
          </a:solidFill>
          <a:ln w="19050">
            <a:solidFill>
              <a:srgbClr val="2C7A7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1548" y="1485751"/>
            <a:ext cx="794090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核心公式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1548" y="1749177"/>
            <a:ext cx="7940903" cy="690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38A3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ANON_ID</a:t>
            </a:r>
            <a:r>
              <a:rPr lang="en-US" sz="1700" dirty="0">
                <a:solidFill>
                  <a:srgbClr val="F1F5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"ANON_" + HMAC-SHA256( </a:t>
            </a:r>
            <a:r>
              <a:rPr lang="en-US" sz="1700" b="1" dirty="0">
                <a:solidFill>
                  <a:srgbClr val="38A3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项目密钥</a:t>
            </a:r>
            <a:r>
              <a:rPr lang="en-US" sz="1700" dirty="0">
                <a:solidFill>
                  <a:srgbClr val="F1F5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700" b="1" dirty="0">
                <a:solidFill>
                  <a:srgbClr val="38A3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中心</a:t>
            </a:r>
            <a:r>
              <a:rPr lang="en-US" sz="1700" dirty="0">
                <a:solidFill>
                  <a:srgbClr val="F1F5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+ </a:t>
            </a:r>
            <a:r>
              <a:rPr lang="en-US" sz="1700" b="1" dirty="0">
                <a:solidFill>
                  <a:srgbClr val="38A3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PAT_LOCAL_ID</a:t>
            </a:r>
            <a:r>
              <a:rPr lang="en-US" sz="1700" dirty="0">
                <a:solidFill>
                  <a:srgbClr val="F1F5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)[:12]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1750" y="2941588"/>
            <a:ext cx="2658517" cy="765125"/>
          </a:xfrm>
          <a:prstGeom prst="roundRect">
            <a:avLst>
              <a:gd name="adj" fmla="val 13279"/>
            </a:avLst>
          </a:prstGeom>
          <a:solidFill>
            <a:srgbClr val="16A34A">
              <a:alpha val="12000"/>
            </a:srgbClr>
          </a:solidFill>
          <a:ln w="9525">
            <a:solidFill>
              <a:srgbClr val="16A3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0329" y="3103513"/>
            <a:ext cx="2381360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不可逆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0329" y="3392388"/>
            <a:ext cx="238136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HMAC + 密钥抗字典攻击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42667" y="2941588"/>
            <a:ext cx="2658666" cy="765125"/>
          </a:xfrm>
          <a:prstGeom prst="roundRect">
            <a:avLst>
              <a:gd name="adj" fmla="val 13279"/>
            </a:avLst>
          </a:prstGeom>
          <a:solidFill>
            <a:srgbClr val="16A34A">
              <a:alpha val="12000"/>
            </a:srgbClr>
          </a:solidFill>
          <a:ln w="9525">
            <a:solidFill>
              <a:srgbClr val="16A3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81244" y="3103513"/>
            <a:ext cx="2381512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可关联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1244" y="3392388"/>
            <a:ext cx="238151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确定性：同一输入同一输出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53733" y="2941588"/>
            <a:ext cx="2658517" cy="765125"/>
          </a:xfrm>
          <a:prstGeom prst="roundRect">
            <a:avLst>
              <a:gd name="adj" fmla="val 13279"/>
            </a:avLst>
          </a:prstGeom>
          <a:solidFill>
            <a:srgbClr val="16A34A">
              <a:alpha val="12000"/>
            </a:srgbClr>
          </a:solidFill>
          <a:ln w="9525">
            <a:solidFill>
              <a:srgbClr val="16A3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2311" y="3103513"/>
            <a:ext cx="2381360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无映射表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92311" y="3392388"/>
            <a:ext cx="238136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明文丢弃，无单点失败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0795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602" y="36612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602" y="214313"/>
            <a:ext cx="8498026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项核心决策一览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1750" y="609451"/>
            <a:ext cx="8280499" cy="349151"/>
          </a:xfrm>
          <a:prstGeom prst="roundRect">
            <a:avLst>
              <a:gd name="adj" fmla="val 181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1750" y="614214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07487" y="609451"/>
            <a:ext cx="0" cy="349151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750" y="953839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563" y="609451"/>
            <a:ext cx="0" cy="349151"/>
          </a:xfrm>
          <a:prstGeom prst="line">
            <a:avLst/>
          </a:prstGeom>
          <a:noFill/>
          <a:ln w="47625">
            <a:solidFill>
              <a:srgbClr val="2C7A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775" y="712589"/>
            <a:ext cx="41442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8076" y="707827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脱敏策略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34977" y="707827"/>
            <a:ext cx="623765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统一确定性映射（无映射表）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1750" y="1022003"/>
            <a:ext cx="8280499" cy="349151"/>
          </a:xfrm>
          <a:prstGeom prst="roundRect">
            <a:avLst>
              <a:gd name="adj" fmla="val 181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1750" y="1026765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07487" y="1022003"/>
            <a:ext cx="0" cy="349151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1750" y="1366391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563" y="1022003"/>
            <a:ext cx="0" cy="349151"/>
          </a:xfrm>
          <a:prstGeom prst="line">
            <a:avLst/>
          </a:prstGeom>
          <a:noFill/>
          <a:ln w="47625">
            <a:solidFill>
              <a:srgbClr val="2C7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775" y="1125141"/>
            <a:ext cx="41442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8076" y="1120378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哈希输入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34977" y="1120378"/>
            <a:ext cx="623765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中心 + PAT_LOCAL_ID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1750" y="1434554"/>
            <a:ext cx="8280499" cy="349151"/>
          </a:xfrm>
          <a:prstGeom prst="roundRect">
            <a:avLst>
              <a:gd name="adj" fmla="val 181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1750" y="1439317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07487" y="1434554"/>
            <a:ext cx="0" cy="349151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1750" y="1778943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563" y="1434554"/>
            <a:ext cx="0" cy="349151"/>
          </a:xfrm>
          <a:prstGeom prst="line">
            <a:avLst/>
          </a:prstGeom>
          <a:noFill/>
          <a:ln w="47625">
            <a:solidFill>
              <a:srgbClr val="2C7A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775" y="1537692"/>
            <a:ext cx="41442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8076" y="1532930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哈希算法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34977" y="1532930"/>
            <a:ext cx="623765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HMAC-SHA256 + 项目密钥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1750" y="1847106"/>
            <a:ext cx="8280499" cy="349151"/>
          </a:xfrm>
          <a:prstGeom prst="roundRect">
            <a:avLst>
              <a:gd name="adj" fmla="val 181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31750" y="1851868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07487" y="1847106"/>
            <a:ext cx="0" cy="349151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1750" y="2191494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5563" y="1847106"/>
            <a:ext cx="0" cy="349151"/>
          </a:xfrm>
          <a:prstGeom prst="line">
            <a:avLst/>
          </a:prstGeom>
          <a:noFill/>
          <a:ln w="47625">
            <a:solidFill>
              <a:srgbClr val="2C7A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775" y="1950244"/>
            <a:ext cx="41442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38076" y="1945481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关联粒度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34977" y="1945481"/>
            <a:ext cx="623765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病人级 + 检查级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1750" y="2259657"/>
            <a:ext cx="8280499" cy="349151"/>
          </a:xfrm>
          <a:prstGeom prst="roundRect">
            <a:avLst>
              <a:gd name="adj" fmla="val 181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31750" y="2264420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07487" y="2259657"/>
            <a:ext cx="0" cy="349151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1750" y="2604046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5563" y="2259657"/>
            <a:ext cx="0" cy="349151"/>
          </a:xfrm>
          <a:prstGeom prst="line">
            <a:avLst/>
          </a:prstGeom>
          <a:noFill/>
          <a:ln w="47625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775" y="2362795"/>
            <a:ext cx="41442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38076" y="2367558"/>
            <a:ext cx="142483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DICOM UID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434977" y="2358033"/>
            <a:ext cx="623765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确定性重生成（合法 OID）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31750" y="2672209"/>
            <a:ext cx="8280499" cy="349151"/>
          </a:xfrm>
          <a:prstGeom prst="roundRect">
            <a:avLst>
              <a:gd name="adj" fmla="val 181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31750" y="2676971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07487" y="2672209"/>
            <a:ext cx="0" cy="349151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1750" y="3016597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5563" y="2672209"/>
            <a:ext cx="0" cy="349151"/>
          </a:xfrm>
          <a:prstGeom prst="line">
            <a:avLst/>
          </a:prstGeom>
          <a:noFill/>
          <a:ln w="47625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1775" y="2775347"/>
            <a:ext cx="41442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38076" y="2770584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检查级桥梁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434977" y="2770584"/>
            <a:ext cx="623765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AccessionNumber 标签 ← EXAM_NO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31750" y="3084761"/>
            <a:ext cx="8280499" cy="349151"/>
          </a:xfrm>
          <a:prstGeom prst="roundRect">
            <a:avLst>
              <a:gd name="adj" fmla="val 181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31750" y="3089523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07487" y="3084761"/>
            <a:ext cx="0" cy="349151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1750" y="3429149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5563" y="3084761"/>
            <a:ext cx="0" cy="349151"/>
          </a:xfrm>
          <a:prstGeom prst="line">
            <a:avLst/>
          </a:prstGeom>
          <a:noFill/>
          <a:ln w="47625">
            <a:solidFill>
              <a:srgbClr val="64748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1775" y="3187898"/>
            <a:ext cx="41442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#7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38076" y="3192661"/>
            <a:ext cx="142483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SICK_ID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434977" y="3183136"/>
            <a:ext cx="623765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清空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31750" y="3497312"/>
            <a:ext cx="8280499" cy="349151"/>
          </a:xfrm>
          <a:prstGeom prst="roundRect">
            <a:avLst>
              <a:gd name="adj" fmla="val 181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431750" y="3502075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07487" y="3497312"/>
            <a:ext cx="0" cy="349151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1750" y="3841700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5563" y="3497312"/>
            <a:ext cx="0" cy="349151"/>
          </a:xfrm>
          <a:prstGeom prst="line">
            <a:avLst/>
          </a:prstGeom>
          <a:noFill/>
          <a:ln w="47625">
            <a:solidFill>
              <a:srgbClr val="6474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1775" y="3600450"/>
            <a:ext cx="41442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#8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38076" y="3595688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自由文本 PHI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434977" y="3595688"/>
            <a:ext cx="623765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规则 + 私有 LLM（Qwen3）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31750" y="3909864"/>
            <a:ext cx="8280499" cy="349151"/>
          </a:xfrm>
          <a:prstGeom prst="roundRect">
            <a:avLst>
              <a:gd name="adj" fmla="val 181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431750" y="3914626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07487" y="3909864"/>
            <a:ext cx="0" cy="349151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1750" y="4254252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5563" y="3909864"/>
            <a:ext cx="0" cy="349151"/>
          </a:xfrm>
          <a:prstGeom prst="line">
            <a:avLst/>
          </a:prstGeom>
          <a:noFill/>
          <a:ln w="47625">
            <a:solidFill>
              <a:srgbClr val="64748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1775" y="4013002"/>
            <a:ext cx="41442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038076" y="4008239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明文 ID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2434977" y="4008239"/>
            <a:ext cx="623765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原地替换、丢弃明文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31750" y="4322415"/>
            <a:ext cx="8280499" cy="349151"/>
          </a:xfrm>
          <a:prstGeom prst="roundRect">
            <a:avLst>
              <a:gd name="adj" fmla="val 181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431750" y="4327178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07487" y="4322415"/>
            <a:ext cx="0" cy="349151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31750" y="4666804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5563" y="4322415"/>
            <a:ext cx="0" cy="349151"/>
          </a:xfrm>
          <a:prstGeom prst="line">
            <a:avLst/>
          </a:prstGeom>
          <a:noFill/>
          <a:ln w="47625">
            <a:solidFill>
              <a:srgbClr val="64748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1775" y="4425553"/>
            <a:ext cx="41442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#10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038076" y="4420791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检查/就诊日期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2434977" y="4420791"/>
            <a:ext cx="623765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原值保留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31750" y="4734967"/>
            <a:ext cx="8280499" cy="349151"/>
          </a:xfrm>
          <a:prstGeom prst="roundRect">
            <a:avLst>
              <a:gd name="adj" fmla="val 181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Shape 85"/>
          <p:cNvSpPr/>
          <p:nvPr/>
        </p:nvSpPr>
        <p:spPr>
          <a:xfrm>
            <a:off x="431750" y="4739729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07487" y="4734967"/>
            <a:ext cx="0" cy="349151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31750" y="5079355"/>
            <a:ext cx="82804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5563" y="4734967"/>
            <a:ext cx="0" cy="349151"/>
          </a:xfrm>
          <a:prstGeom prst="line">
            <a:avLst/>
          </a:prstGeom>
          <a:noFill/>
          <a:ln w="47625">
            <a:solidFill>
              <a:srgbClr val="64748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1775" y="4838105"/>
            <a:ext cx="41442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#11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1038076" y="4833342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出生日期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2434977" y="4833342"/>
            <a:ext cx="623765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只留年份、月日清零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88895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602" y="141387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602" y="319088"/>
            <a:ext cx="849802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决策深挖：哈希设计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31602" y="725388"/>
            <a:ext cx="849802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为什么是「中心+号」+ HMAC（#2 #3）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750" y="1168301"/>
            <a:ext cx="8280499" cy="504825"/>
          </a:xfrm>
          <a:prstGeom prst="roundRect">
            <a:avLst>
              <a:gd name="adj" fmla="val 20126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5563" y="1168301"/>
            <a:ext cx="0" cy="504825"/>
          </a:xfrm>
          <a:prstGeom prst="line">
            <a:avLst/>
          </a:prstGeom>
          <a:noFill/>
          <a:ln w="47625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7076" y="1320701"/>
            <a:ext cx="803502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中心进输入：</a:t>
            </a:r>
            <a:r>
              <a:rPr lang="en-US" sz="12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跨中心同号隔离 → 珠江/省医的  得到不同 ANON_ID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750" y="1825526"/>
            <a:ext cx="4051399" cy="2467124"/>
          </a:xfrm>
          <a:prstGeom prst="roundRect">
            <a:avLst>
              <a:gd name="adj" fmla="val 5148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501" y="2022277"/>
            <a:ext cx="37310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 裸 SHA256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8501" y="2298502"/>
            <a:ext cx="3731056" cy="4316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PAT_LOCAL_ID 仅 6-7 位</a:t>
            </a:r>
            <a:endParaRPr lang="en-US" sz="1000" dirty="0"/>
          </a:p>
          <a:p>
            <a:pPr marL="0" indent="0" algn="l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搜索空间 </a:t>
            </a:r>
            <a:endParaRPr lang="en-US" sz="1000" dirty="0"/>
          </a:p>
          <a:p>
            <a:pPr marL="0" indent="0" algn="l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十万级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8501" y="2831604"/>
            <a:ext cx="3657898" cy="583704"/>
          </a:xfrm>
          <a:prstGeom prst="roundRect">
            <a:avLst>
              <a:gd name="adj" fmla="val 10879"/>
            </a:avLst>
          </a:prstGeom>
          <a:solidFill>
            <a:srgbClr val="DC2626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6977" y="3314105"/>
            <a:ext cx="3523994" cy="380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攻击者离线把所有号哈希一遍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 反算</a:t>
            </a:r>
            <a:r>
              <a:rPr lang="en-US" sz="100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，等同明文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0850" y="1825526"/>
            <a:ext cx="4051399" cy="2467124"/>
          </a:xfrm>
          <a:prstGeom prst="roundRect">
            <a:avLst>
              <a:gd name="adj" fmla="val 5148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57601" y="2022277"/>
            <a:ext cx="37310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HMAC + 密钥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57601" y="2298502"/>
            <a:ext cx="3731056" cy="4316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密钥不公开</a:t>
            </a:r>
            <a:endParaRPr lang="en-US" sz="1000" dirty="0"/>
          </a:p>
          <a:p>
            <a:pPr marL="0" indent="0" algn="l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无密钥 </a:t>
            </a:r>
            <a:endParaRPr lang="en-US" sz="1000" dirty="0"/>
          </a:p>
          <a:p>
            <a:pPr marL="0" indent="0" algn="l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无法反算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57601" y="2831604"/>
            <a:ext cx="3657898" cy="583704"/>
          </a:xfrm>
          <a:prstGeom prst="roundRect">
            <a:avLst>
              <a:gd name="adj" fmla="val 10879"/>
            </a:avLst>
          </a:prstGeom>
          <a:solidFill>
            <a:srgbClr val="16A34A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24177" y="3314105"/>
            <a:ext cx="3523994" cy="380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确定性不受影响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同一输入永远同一输出 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750" y="4445050"/>
            <a:ext cx="8280499" cy="419100"/>
          </a:xfrm>
          <a:prstGeom prst="roundRect">
            <a:avLst>
              <a:gd name="adj" fmla="val 12121"/>
            </a:avLst>
          </a:prstGeom>
          <a:solidFill>
            <a:srgbClr val="D97706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55563" y="4445050"/>
            <a:ext cx="0" cy="419100"/>
          </a:xfrm>
          <a:prstGeom prst="line">
            <a:avLst/>
          </a:prstGeom>
          <a:noFill/>
          <a:ln w="47625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076" y="4559350"/>
            <a:ext cx="803502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密钥 = 唯一受保护资产。</a:t>
            </a:r>
            <a:r>
              <a:rPr lang="en-US" sz="11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丢失 = 永久不可逆，须有可恢复备份。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98086" y="4832449"/>
            <a:ext cx="34793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88895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602" y="141387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602" y="319088"/>
            <a:ext cx="849802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决策深挖：怎么把报告和片子对上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31602" y="725388"/>
            <a:ext cx="849802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跨模态关联（#4 #5 #6）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750" y="1168301"/>
            <a:ext cx="4064050" cy="1017984"/>
          </a:xfrm>
          <a:prstGeom prst="roundRect">
            <a:avLst>
              <a:gd name="adj" fmla="val 9981"/>
            </a:avLst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4150" y="1320701"/>
            <a:ext cx="383443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两层粒度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4150" y="1558826"/>
            <a:ext cx="3834435" cy="4750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病人级 </a:t>
            </a:r>
            <a:endParaRPr lang="en-US" sz="1100" dirty="0"/>
          </a:p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检查级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48200" y="1168301"/>
            <a:ext cx="4064050" cy="1017984"/>
          </a:xfrm>
          <a:prstGeom prst="roundRect">
            <a:avLst>
              <a:gd name="adj" fmla="val 9981"/>
            </a:avLst>
          </a:prstGeom>
          <a:solidFill>
            <a:srgbClr val="2D3B5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0600" y="1320701"/>
            <a:ext cx="383443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检查级桥梁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1558826"/>
            <a:ext cx="3834435" cy="4750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DICOM  标签</a:t>
            </a:r>
            <a:endParaRPr lang="en-US" sz="1100" dirty="0"/>
          </a:p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存放 EXAM_NO（标准字段）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750" y="2338685"/>
            <a:ext cx="8280499" cy="2525464"/>
          </a:xfrm>
          <a:prstGeom prst="roundRect">
            <a:avLst>
              <a:gd name="adj" fmla="val 50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525911"/>
            <a:ext cx="806416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数据流：报告与影像如何对应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8976" y="2887861"/>
            <a:ext cx="2364432" cy="720626"/>
          </a:xfrm>
          <a:prstGeom prst="roundRect">
            <a:avLst>
              <a:gd name="adj" fmla="val 10574"/>
            </a:avLst>
          </a:prstGeom>
          <a:solidFill>
            <a:srgbClr val="2C7A7B">
              <a:alpha val="7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3056" y="3014811"/>
            <a:ext cx="225627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CSV 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3056" y="3214836"/>
            <a:ext cx="2256273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ANON_ID</a:t>
            </a:r>
            <a:endParaRPr lang="en-US" sz="9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ANON_EXAM_ID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84909" y="3129111"/>
            <a:ext cx="20736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9709" y="2887861"/>
            <a:ext cx="2364581" cy="720626"/>
          </a:xfrm>
          <a:prstGeom prst="roundRect">
            <a:avLst>
              <a:gd name="adj" fmla="val 10574"/>
            </a:avLst>
          </a:prstGeom>
          <a:solidFill>
            <a:srgbClr val="2C7A7B">
              <a:alpha val="7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43788" y="3014811"/>
            <a:ext cx="225642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DICOM 文件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43788" y="3214836"/>
            <a:ext cx="225642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PatientID=ANON_ID</a:t>
            </a:r>
            <a:endParaRPr lang="en-US" sz="9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AccessionNumber=EXAM_NO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55791" y="3129111"/>
            <a:ext cx="20736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60591" y="2868811"/>
            <a:ext cx="2364432" cy="758726"/>
          </a:xfrm>
          <a:prstGeom prst="roundRect">
            <a:avLst>
              <a:gd name="adj" fmla="val 10043"/>
            </a:avLst>
          </a:prstGeom>
          <a:solidFill>
            <a:srgbClr val="16A34A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14671" y="2995761"/>
            <a:ext cx="225627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浏览器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4671" y="3195786"/>
            <a:ext cx="2256273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运行时重建索引</a:t>
            </a:r>
            <a:endParaRPr lang="en-US" sz="9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UID 替换不影响 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8976" y="3754487"/>
            <a:ext cx="806416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UID </a:t>
            </a:r>
            <a:r>
              <a:rPr lang="en-US" sz="10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确定性重生成</a:t>
            </a: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为合法 OID（非随机）——否则检查级关联断链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88895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602" y="141387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602" y="319088"/>
            <a:ext cx="849802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决策深挖：剩余 PHI 怎么处理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31602" y="725388"/>
            <a:ext cx="849802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文本 · 明文 · 日期（#7 #8 #9 #10 #11）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750" y="1168301"/>
            <a:ext cx="4076700" cy="1511350"/>
          </a:xfrm>
          <a:prstGeom prst="roundRect">
            <a:avLst>
              <a:gd name="adj" fmla="val 6722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1750" y="1187351"/>
            <a:ext cx="407670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3688" y="1168301"/>
            <a:ext cx="0" cy="15113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750" y="2674888"/>
            <a:ext cx="40767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513" y="1168301"/>
            <a:ext cx="0" cy="15113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3675" y="1358801"/>
            <a:ext cx="3827907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#7 SICK_ID 住院号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3675" y="1571476"/>
            <a:ext cx="3827907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🗑️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3675" y="1898452"/>
            <a:ext cx="382790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清空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3675" y="2127052"/>
            <a:ext cx="382790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夹在病人/检查级间的冗余粒度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35401" y="1168301"/>
            <a:ext cx="4076849" cy="1511350"/>
          </a:xfrm>
          <a:prstGeom prst="roundRect">
            <a:avLst>
              <a:gd name="adj" fmla="val 6722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35401" y="1187351"/>
            <a:ext cx="4076849" cy="0"/>
          </a:xfrm>
          <a:prstGeom prst="line">
            <a:avLst/>
          </a:prstGeom>
          <a:noFill/>
          <a:ln w="38100">
            <a:solidFill>
              <a:srgbClr val="2C7A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07487" y="1168301"/>
            <a:ext cx="0" cy="15113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35401" y="2674888"/>
            <a:ext cx="407684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0163" y="1168301"/>
            <a:ext cx="0" cy="15113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7326" y="1358801"/>
            <a:ext cx="382805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#8 报告正文 PHI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97326" y="1571476"/>
            <a:ext cx="3828059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97326" y="1898452"/>
            <a:ext cx="382805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规则 + 私有 LLM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97326" y="2127052"/>
            <a:ext cx="382805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Qwen3 私有部署，</a:t>
            </a:r>
            <a:r>
              <a:rPr lang="en-US" sz="9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数据不出内网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1750" y="2806601"/>
            <a:ext cx="4076700" cy="1511498"/>
          </a:xfrm>
          <a:prstGeom prst="roundRect">
            <a:avLst>
              <a:gd name="adj" fmla="val 6722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31750" y="2825651"/>
            <a:ext cx="4076700" cy="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3688" y="2806601"/>
            <a:ext cx="0" cy="151149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1750" y="4313337"/>
            <a:ext cx="40767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6513" y="2806601"/>
            <a:ext cx="0" cy="151149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3675" y="2997101"/>
            <a:ext cx="3827907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#9 明文 ID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3675" y="3209776"/>
            <a:ext cx="3827907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🔄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3675" y="3536752"/>
            <a:ext cx="382790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原地替换丢弃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3675" y="3765352"/>
            <a:ext cx="382790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不留明文号，反查靠 HMAC 重算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35401" y="2806601"/>
            <a:ext cx="4076849" cy="1511498"/>
          </a:xfrm>
          <a:prstGeom prst="roundRect">
            <a:avLst>
              <a:gd name="adj" fmla="val 6722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35401" y="2825651"/>
            <a:ext cx="4076849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07487" y="2806601"/>
            <a:ext cx="0" cy="151149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5401" y="4313337"/>
            <a:ext cx="407684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40163" y="2806601"/>
            <a:ext cx="0" cy="151149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7326" y="2997101"/>
            <a:ext cx="382805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#10 #11 日期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97326" y="3209776"/>
            <a:ext cx="3828059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📅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97326" y="3536752"/>
            <a:ext cx="382805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就诊日期保留 · 出生只留年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97326" y="3765352"/>
            <a:ext cx="382805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两侧规则一致（结构化+DICOM）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1750" y="4445050"/>
            <a:ext cx="8280499" cy="419100"/>
          </a:xfrm>
          <a:prstGeom prst="roundRect">
            <a:avLst>
              <a:gd name="adj" fmla="val 12121"/>
            </a:avLst>
          </a:prstGeom>
          <a:solidFill>
            <a:srgbClr val="2C7A7B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9451" y="4559350"/>
            <a:ext cx="8083600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私有 LLM 是关键</a:t>
            </a:r>
            <a:r>
              <a:rPr lang="en-US" sz="11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：兼顾准确性与合规——报告不出内网，无新泄露面。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88895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602" y="141387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602" y="319088"/>
            <a:ext cx="849802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考虑过、但否决了的方案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31602" y="725388"/>
            <a:ext cx="849802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每个否决都有具体理由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750" y="1168301"/>
            <a:ext cx="8280499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3675" y="1292126"/>
            <a:ext cx="19051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7405" y="1349276"/>
            <a:ext cx="343017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映射表（各模态各自脱敏+对照表）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70325" y="1363563"/>
            <a:ext cx="43655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单点失败——泄漏即重识别密钥，且需长期维护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1750" y="1809601"/>
            <a:ext cx="8280499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3675" y="1933426"/>
            <a:ext cx="19051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7405" y="1990576"/>
            <a:ext cx="343017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裸 SHA256（无盐）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70325" y="2004864"/>
            <a:ext cx="43655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病人号空间小，等同明文可逆，挡不住字典攻击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750" y="2450902"/>
            <a:ext cx="8280499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3675" y="2574727"/>
            <a:ext cx="19051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7405" y="2631877"/>
            <a:ext cx="343017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DICOM UID 随机重生成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70325" y="2646164"/>
            <a:ext cx="43655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切断检查级关联，与"归属正确"冲突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750" y="3092202"/>
            <a:ext cx="8280499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3675" y="3216027"/>
            <a:ext cx="19051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7405" y="3273177"/>
            <a:ext cx="343017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DICOM UID 原值保留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70325" y="3287464"/>
            <a:ext cx="43655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UID 含设备序列号/时间戳/机构 OID，属可识别信息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750" y="3733502"/>
            <a:ext cx="8280499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3675" y="3857327"/>
            <a:ext cx="19051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7405" y="3914477"/>
            <a:ext cx="343017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新增 ANON 列、明文并存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70325" y="3928765"/>
            <a:ext cx="43655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项目库里仍存明文病人号，违背"进入前必须脱敏"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8945" y="4673650"/>
            <a:ext cx="844610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1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尤其"映射表"看似省事，实则是最大的安全隐患。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A23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888950"/>
          </a:xfrm>
          <a:prstGeom prst="rect">
            <a:avLst/>
          </a:prstGeom>
          <a:solidFill>
            <a:srgbClr val="2C7A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602" y="141387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602" y="319088"/>
            <a:ext cx="849802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风险与需知晓的后果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31602" y="725388"/>
            <a:ext cx="849802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诚实交代局限 = 增加可信度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750" y="1168301"/>
            <a:ext cx="8280499" cy="679252"/>
          </a:xfrm>
          <a:prstGeom prst="roundRect">
            <a:avLst>
              <a:gd name="adj" fmla="val 11218"/>
            </a:avLst>
          </a:prstGeom>
          <a:solidFill>
            <a:srgbClr val="D97706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5563" y="1168301"/>
            <a:ext cx="0" cy="679252"/>
          </a:xfrm>
          <a:prstGeom prst="line">
            <a:avLst/>
          </a:prstGeom>
          <a:noFill/>
          <a:ln w="47625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7076" y="1307902"/>
            <a:ext cx="803502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 密钥是单点资产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7076" y="1546027"/>
            <a:ext cx="803502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丢失 = 永久不可逆。</a:t>
            </a:r>
            <a:r>
              <a:rPr lang="en-US" sz="10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上线前必须有可恢复备份</a:t>
            </a:r>
            <a:r>
              <a:rPr lang="en-US" sz="10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，不能只存单机。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1750" y="1961852"/>
            <a:ext cx="8280499" cy="679252"/>
          </a:xfrm>
          <a:prstGeom prst="roundRect">
            <a:avLst>
              <a:gd name="adj" fmla="val 11218"/>
            </a:avLst>
          </a:prstGeom>
          <a:solidFill>
            <a:srgbClr val="D97706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5563" y="1961852"/>
            <a:ext cx="0" cy="679252"/>
          </a:xfrm>
          <a:prstGeom prst="line">
            <a:avLst/>
          </a:prstGeom>
          <a:noFill/>
          <a:ln w="47625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076" y="2101453"/>
            <a:ext cx="803502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 自由文本脱敏非 100%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7076" y="2339578"/>
            <a:ext cx="803502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规则 + LLM 仍有漏检，保留</a:t>
            </a:r>
            <a:r>
              <a:rPr lang="en-US" sz="1000" b="1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人工抽检</a:t>
            </a:r>
            <a:r>
              <a:rPr lang="en-US" sz="10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兜底。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750" y="2755404"/>
            <a:ext cx="8280499" cy="679252"/>
          </a:xfrm>
          <a:prstGeom prst="roundRect">
            <a:avLst>
              <a:gd name="adj" fmla="val 11218"/>
            </a:avLst>
          </a:prstGeom>
          <a:solidFill>
            <a:srgbClr val="2C7A7B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5563" y="2755404"/>
            <a:ext cx="0" cy="679252"/>
          </a:xfrm>
          <a:prstGeom prst="line">
            <a:avLst/>
          </a:prstGeom>
          <a:noFill/>
          <a:ln w="47625">
            <a:solidFill>
              <a:srgbClr val="2C7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076" y="2895005"/>
            <a:ext cx="803502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ℹ 旧 Parquet 不纳入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7076" y="3133130"/>
            <a:ext cx="803502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那批 8 位 patient_id 是另一批数据，本方案不覆盖。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750" y="3548955"/>
            <a:ext cx="8280499" cy="679252"/>
          </a:xfrm>
          <a:prstGeom prst="roundRect">
            <a:avLst>
              <a:gd name="adj" fmla="val 11218"/>
            </a:avLst>
          </a:prstGeom>
          <a:solidFill>
            <a:srgbClr val="2C7A7B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5563" y="3548955"/>
            <a:ext cx="0" cy="679252"/>
          </a:xfrm>
          <a:prstGeom prst="line">
            <a:avLst/>
          </a:prstGeom>
          <a:noFill/>
          <a:ln w="47625">
            <a:solidFill>
              <a:srgbClr val="2C7A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076" y="3688556"/>
            <a:ext cx="803502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7A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ℹ UID 替换的外部影响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7076" y="3926681"/>
            <a:ext cx="803502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3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缓存了旧 UID 的外部 PACS 系统需重新索引。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253901"/>
            <a:ext cx="844610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实施路径 · 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482501"/>
            <a:ext cx="8446109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下一步行动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1750" y="1085701"/>
            <a:ext cx="1585020" cy="907852"/>
          </a:xfrm>
          <a:prstGeom prst="roundRect">
            <a:avLst>
              <a:gd name="adj" fmla="val 8393"/>
            </a:avLst>
          </a:prstGeom>
          <a:solidFill>
            <a:srgbClr val="2D3B5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1750" y="1104751"/>
            <a:ext cx="1585020" cy="0"/>
          </a:xfrm>
          <a:prstGeom prst="line">
            <a:avLst/>
          </a:prstGeom>
          <a:noFill/>
          <a:ln w="38100">
            <a:solidFill>
              <a:srgbClr val="2C7A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9431" y="1250752"/>
            <a:ext cx="1409658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9431" y="1555552"/>
            <a:ext cx="140965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HMAC 核心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9431" y="1733252"/>
            <a:ext cx="140965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密钥管理+备份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05620" y="1085701"/>
            <a:ext cx="1585020" cy="907852"/>
          </a:xfrm>
          <a:prstGeom prst="roundRect">
            <a:avLst>
              <a:gd name="adj" fmla="val 8393"/>
            </a:avLst>
          </a:prstGeom>
          <a:solidFill>
            <a:srgbClr val="2D3B5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105620" y="1104751"/>
            <a:ext cx="1585020" cy="0"/>
          </a:xfrm>
          <a:prstGeom prst="line">
            <a:avLst/>
          </a:prstGeom>
          <a:noFill/>
          <a:ln w="38100">
            <a:solidFill>
              <a:srgbClr val="2C7A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3301" y="1250752"/>
            <a:ext cx="1409658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93301" y="1555552"/>
            <a:ext cx="140965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CSV 脱敏器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3301" y="1733252"/>
            <a:ext cx="140965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ID替换+日期规整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79490" y="1085701"/>
            <a:ext cx="1585020" cy="907852"/>
          </a:xfrm>
          <a:prstGeom prst="roundRect">
            <a:avLst>
              <a:gd name="adj" fmla="val 8393"/>
            </a:avLst>
          </a:prstGeom>
          <a:solidFill>
            <a:srgbClr val="2D3B5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779490" y="1104751"/>
            <a:ext cx="1585020" cy="0"/>
          </a:xfrm>
          <a:prstGeom prst="line">
            <a:avLst/>
          </a:prstGeom>
          <a:noFill/>
          <a:ln w="38100">
            <a:solidFill>
              <a:srgbClr val="2C7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171" y="1250752"/>
            <a:ext cx="1409658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67171" y="1555552"/>
            <a:ext cx="140965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DICOM 脱敏器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67171" y="1733252"/>
            <a:ext cx="140965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UID重生成+标签清除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53360" y="1085701"/>
            <a:ext cx="1585020" cy="907852"/>
          </a:xfrm>
          <a:prstGeom prst="roundRect">
            <a:avLst>
              <a:gd name="adj" fmla="val 8393"/>
            </a:avLst>
          </a:prstGeom>
          <a:solidFill>
            <a:srgbClr val="2D3B5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53360" y="1104751"/>
            <a:ext cx="1585020" cy="0"/>
          </a:xfrm>
          <a:prstGeom prst="line">
            <a:avLst/>
          </a:prstGeom>
          <a:noFill/>
          <a:ln w="38100">
            <a:solidFill>
              <a:srgbClr val="2C7A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41041" y="1250752"/>
            <a:ext cx="1409658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41041" y="1555552"/>
            <a:ext cx="140965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文本清洗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41041" y="1733252"/>
            <a:ext cx="140965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Qwen3+抽检流程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27230" y="1085701"/>
            <a:ext cx="1585020" cy="907852"/>
          </a:xfrm>
          <a:prstGeom prst="roundRect">
            <a:avLst>
              <a:gd name="adj" fmla="val 8393"/>
            </a:avLst>
          </a:prstGeom>
          <a:solidFill>
            <a:srgbClr val="2D3B5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127230" y="1104751"/>
            <a:ext cx="1585020" cy="0"/>
          </a:xfrm>
          <a:prstGeom prst="line">
            <a:avLst/>
          </a:prstGeom>
          <a:noFill/>
          <a:ln w="38100">
            <a:solidFill>
              <a:srgbClr val="2C7A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14911" y="1250752"/>
            <a:ext cx="1409658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14911" y="1555552"/>
            <a:ext cx="140965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端到端验证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14911" y="1733252"/>
            <a:ext cx="140965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关联正确性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1800" y="2196465"/>
            <a:ext cx="8280400" cy="1375410"/>
          </a:xfrm>
          <a:prstGeom prst="roundRect">
            <a:avLst>
              <a:gd name="adj" fmla="val 10951"/>
            </a:avLst>
          </a:prstGeom>
          <a:solidFill>
            <a:srgbClr val="2C7A7B">
              <a:alpha val="15000"/>
            </a:srgbClr>
          </a:solidFill>
          <a:ln w="19050">
            <a:solidFill>
              <a:srgbClr val="2C7A7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9400" y="2393454"/>
            <a:ext cx="794090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9400" y="2631579"/>
            <a:ext cx="7940903" cy="5280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以「中心 + PAT_LOCAL_ID」的 HMAC 为统一主键，明文丢弃、无映射表，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跨中心不撞号、检查级可精确对应——在 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脱敏</a:t>
            </a:r>
            <a:r>
              <a:rPr lang="en-US" sz="13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与 </a:t>
            </a:r>
            <a:r>
              <a:rPr lang="en-US" sz="1300" b="1" dirty="0">
                <a:solidFill>
                  <a:srgbClr val="38A3A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归属正确</a:t>
            </a:r>
            <a:r>
              <a:rPr lang="en-US" sz="1300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之间找到同时满足的解。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89603" y="4832449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2901</Words>
  <Application>WPS 演示</Application>
  <PresentationFormat>On-screen Show (16:9)</PresentationFormat>
  <Paragraphs>547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Arial</vt:lpstr>
      <vt:lpstr>Arial</vt:lpstr>
      <vt:lpstr>Georgia</vt:lpstr>
      <vt:lpstr>Georgia</vt:lpstr>
      <vt:lpstr>Georgia</vt:lpstr>
      <vt:lpstr>Courier New</vt:lpstr>
      <vt:lpstr>Courier New</vt:lpstr>
      <vt:lpstr>Courier New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跨模态病例数据脱敏方案</dc:title>
  <dc:creator>ZCode</dc:creator>
  <dc:subject>PptxGenJS Presentation</dc:subject>
  <cp:lastModifiedBy>dzy</cp:lastModifiedBy>
  <cp:revision>2</cp:revision>
  <dcterms:created xsi:type="dcterms:W3CDTF">2026-07-14T04:43:00Z</dcterms:created>
  <dcterms:modified xsi:type="dcterms:W3CDTF">2026-07-14T04:50:39Z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2052-10.8.2.7090</vt:lpwstr>
  </property>
</Properties>
</file>